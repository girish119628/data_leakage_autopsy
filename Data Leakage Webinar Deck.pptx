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4" d="100"/>
          <a:sy n="84" d="100"/>
        </p:scale>
        <p:origin x="6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88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Welcome. One line only: today you will see five ways a model cheats, and how to catch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0:00-4:00 Read five or six answers aloud by name. Remember the highest number; you use it in the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 Run notebook cell 1 (churn model, 97% accuracy). Ask: yes or no in the chat? Read the split, wait five seconds, then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 Say the promise: five ways a model cheats, a test for each, and you keep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5:00 Plain definition: information that will not exist at prediction time sneaks into training. Exam analogy: the answer sheet got mixed into the study material. The model is not predicting the future, it is reading the answer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score stops meaning anything. You ship a model you believe is 97% accurate and it delivers far less, and nobody notices until the business loses money. Several students asked this in the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7:00 Say each analogy once and move on: curving the exam with exam marks; counting umbrellas to predict rain; the same question in the study guide and the exam; tomorrow's newspaper; choosing lottery numbers after the draw.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8:00 Imputer and scaler fitted on all rows. The score barely moves (97% to 97%); say so openly. Fix: put every fit step inside 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11:00 cancellation_ticket_opened exists because the customer is already leaving. Run the single-feature AUC scan. Ask the chat which other column they would question. Rule: would this value exist at prediction time? Drop it: 97% to 90%.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16:00 Each customer has many monthly rows, so a random split lets the model recognise customers. Type: swap KFold for GroupKFold with groups=customer_id. 90% to 85%.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 In production you only predict forward. Train on months 1 to 24, test on months 25 to 36. 85% to 80%: the number you could actually promise a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26:00 Noise demo: 120 rows, 3,000 random columns, random labels. Selecting on all data gives about 90%. Inside the Pipeline it gives about 50%. Anything that looks at the labels goes inside the 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if the notebook fails, say you pre-ran it and show screenshots of each output. Scores to expect: 97, 97, 90, 85, 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30:00 Column leaks: single-feature AUC scan. Split leaks: adversarial validation (0.49 on a random split, 0.84 on the time split). Procedure leaks: label shuffle. Be precise: label shuffle does not catch leaky columns or repeated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33:00 Benchmark contamination: test questions seen in training text. RAG evaluation: questions generated from the chunks you indexed, or prompts tuned on the questions you report. Fix: keep evaluation separate, remove near-duplicates by embedding similarity, never tune on the reported set. Add an example from your own RAG work only if it really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35:00 Recap in 30 seconds. Also ask for every column: would this value exist at the moment of prediction?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Most-asked topic in the form (23 of 38 questions). Adjust this list to what you see in your students' placements. Do not promise internships from the webinar.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44:00 Close: every fit step inside the Pipeline; ask whether each column exists at prediction time; split by customer and by time. Share the notebook link in the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35:00-45:00 Q&amp;A order is in the script doc: why leakage is dangerous and how to detect it, skills, what second and third-year students should prepare, data breaches clarification, then one live chat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815589"/>
            <a:ext cx="73660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560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5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812800"/>
            <a:ext cx="10566400" cy="1697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815589"/>
            <a:ext cx="73660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560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5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812800"/>
            <a:ext cx="10566400" cy="1697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253490"/>
            <a:ext cx="762000" cy="508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977390"/>
            <a:ext cx="98107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100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 Leakage Autopsy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12800" y="4720590"/>
            <a:ext cx="850265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A9B0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a 97% model can still fail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532003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Girish · The Unlox Academy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11730"/>
            <a:ext cx="9156700" cy="1732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is the best accuracy you have ever got?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12800" y="6238241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87400"/>
            <a:ext cx="4970780" cy="510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FF6B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97%</a:t>
            </a:r>
            <a:endParaRPr lang="en-US" sz="200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6248400" y="2843530"/>
            <a:ext cx="5284724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Would you ship this model?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6238241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802130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you will learn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27825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15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200" y="2815591"/>
            <a:ext cx="464972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a 97% model can still fail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34937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15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73200" y="3526791"/>
            <a:ext cx="552254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hidden ways leakage creeps 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42049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15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3200" y="4237991"/>
            <a:ext cx="525389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demo: watch 97% fall to 80%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800" y="49161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15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3200" y="4949191"/>
            <a:ext cx="554969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Checks most beginners never learn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83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954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250" dirty="0">
                <a:solidFill>
                  <a:srgbClr val="F6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IMPORTANT QUESTION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65350"/>
            <a:ext cx="9810750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00"/>
              </a:lnSpc>
              <a:buNone/>
            </a:pPr>
            <a:r>
              <a:rPr lang="en-US" sz="11000" b="1" i="0" dirty="0">
                <a:solidFill>
                  <a:srgbClr val="F6F2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is data leakage?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6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55571"/>
            <a:ext cx="9156700" cy="183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140"/>
              </a:lnSpc>
              <a:buNone/>
            </a:pPr>
            <a:r>
              <a:rPr lang="en-US" sz="68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is data leakage dangerous?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675132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Five leaks, one map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260477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15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22400" y="2630171"/>
            <a:ext cx="43271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Preprocessing before the split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321437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15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22400" y="3239771"/>
            <a:ext cx="62070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proxy column that gives away the answer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800" y="382397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15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22400" y="3849371"/>
            <a:ext cx="51871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customer in train and test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443357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15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2400" y="4458971"/>
            <a:ext cx="40040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random split on time data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2800" y="504317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15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22400" y="5068571"/>
            <a:ext cx="5931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selection before cross-validation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1380" y="1651000"/>
            <a:ext cx="287782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FF6B4A">
                    <a:alpha val="22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200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815589"/>
            <a:ext cx="758698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Preprocessing before the split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1380" y="1651000"/>
            <a:ext cx="287782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FF6B4A">
                    <a:alpha val="22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200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815592"/>
            <a:ext cx="758698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proxy column that gives away the answer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1380" y="1651000"/>
            <a:ext cx="287782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FF6B4A">
                    <a:alpha val="22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200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815592"/>
            <a:ext cx="758698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same customer in train and test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1380" y="1651000"/>
            <a:ext cx="287782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FF6B4A">
                    <a:alpha val="22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200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815592"/>
            <a:ext cx="758698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random split on time data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1380" y="1651000"/>
            <a:ext cx="287782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FF6B4A">
                    <a:alpha val="22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200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815592"/>
            <a:ext cx="758698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Feature selection before cross-validation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2527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250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995171"/>
            <a:ext cx="98107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100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From 97% to 80%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4244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250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TO CATCH IT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13942"/>
            <a:ext cx="108833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Three tests to catch leakage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15975" y="3404239"/>
            <a:ext cx="3380303" cy="1504950"/>
          </a:xfrm>
          <a:prstGeom prst="roundRect">
            <a:avLst>
              <a:gd name="adj" fmla="val 6540"/>
            </a:avLst>
          </a:prstGeom>
          <a:solidFill>
            <a:srgbClr val="1B2030"/>
          </a:solidFill>
          <a:ln w="6350">
            <a:solidFill>
              <a:srgbClr val="2B32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3660142"/>
            <a:ext cx="2954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880" y="4010664"/>
            <a:ext cx="2954548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Single-feature AUC scan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05828" y="3404239"/>
            <a:ext cx="3380343" cy="1504950"/>
          </a:xfrm>
          <a:prstGeom prst="roundRect">
            <a:avLst>
              <a:gd name="adj" fmla="val 6540"/>
            </a:avLst>
          </a:prstGeom>
          <a:solidFill>
            <a:srgbClr val="1B2030"/>
          </a:solidFill>
          <a:ln w="6350">
            <a:solidFill>
              <a:srgbClr val="2B32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734" y="3660142"/>
            <a:ext cx="2954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1734" y="4010664"/>
            <a:ext cx="2954589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Adversarial validation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95722" y="3404239"/>
            <a:ext cx="3380303" cy="1504950"/>
          </a:xfrm>
          <a:prstGeom prst="roundRect">
            <a:avLst>
              <a:gd name="adj" fmla="val 6540"/>
            </a:avLst>
          </a:prstGeom>
          <a:solidFill>
            <a:srgbClr val="1B2030"/>
          </a:solidFill>
          <a:ln w="6350">
            <a:solidFill>
              <a:srgbClr val="2B32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627" y="3660142"/>
            <a:ext cx="2954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51627" y="4010664"/>
            <a:ext cx="295454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 shuffle test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7899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250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BEYOND CLASSIC ML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48892"/>
            <a:ext cx="9156700" cy="2052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80"/>
              </a:lnSpc>
              <a:buNone/>
            </a:pPr>
            <a:r>
              <a:rPr lang="en-US" sz="76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Leakage in LLMs and RAG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4244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250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TO PREVENT IT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13942"/>
            <a:ext cx="108833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Three rules that stop leakage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15975" y="3404233"/>
            <a:ext cx="3380303" cy="1504950"/>
          </a:xfrm>
          <a:prstGeom prst="roundRect">
            <a:avLst>
              <a:gd name="adj" fmla="val 6540"/>
            </a:avLst>
          </a:prstGeom>
          <a:solidFill>
            <a:srgbClr val="1B2030"/>
          </a:solidFill>
          <a:ln w="6350">
            <a:solidFill>
              <a:srgbClr val="2B32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3660142"/>
            <a:ext cx="2954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880" y="4010658"/>
            <a:ext cx="2954548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Fit everything inside a Pipeline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05828" y="3404233"/>
            <a:ext cx="3380343" cy="1504950"/>
          </a:xfrm>
          <a:prstGeom prst="roundRect">
            <a:avLst>
              <a:gd name="adj" fmla="val 6540"/>
            </a:avLst>
          </a:prstGeom>
          <a:solidFill>
            <a:srgbClr val="1B2030"/>
          </a:solidFill>
          <a:ln w="6350">
            <a:solidFill>
              <a:srgbClr val="2B32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734" y="3660142"/>
            <a:ext cx="2954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1734" y="4010658"/>
            <a:ext cx="2954589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by customer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95722" y="3404233"/>
            <a:ext cx="3380303" cy="1504950"/>
          </a:xfrm>
          <a:prstGeom prst="roundRect">
            <a:avLst>
              <a:gd name="adj" fmla="val 6540"/>
            </a:avLst>
          </a:prstGeom>
          <a:solidFill>
            <a:srgbClr val="1B2030"/>
          </a:solidFill>
          <a:ln w="6350">
            <a:solidFill>
              <a:srgbClr val="2B32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627" y="3660142"/>
            <a:ext cx="2954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51627" y="4010658"/>
            <a:ext cx="295454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by time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716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250" dirty="0">
                <a:solidFill>
                  <a:srgbClr val="FF6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YOUR CAREER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43150"/>
            <a:ext cx="108833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Skills for a data career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15975" y="3433452"/>
            <a:ext cx="2482850" cy="1446530"/>
          </a:xfrm>
          <a:prstGeom prst="roundRect">
            <a:avLst>
              <a:gd name="adj" fmla="val 6804"/>
            </a:avLst>
          </a:prstGeom>
          <a:solidFill>
            <a:srgbClr val="12151C"/>
          </a:solidFill>
          <a:ln w="6350">
            <a:solidFill>
              <a:srgbClr val="2B32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368935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6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880" y="4039877"/>
            <a:ext cx="22237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and Python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08375" y="3433452"/>
            <a:ext cx="2482850" cy="1446530"/>
          </a:xfrm>
          <a:prstGeom prst="roundRect">
            <a:avLst>
              <a:gd name="adj" fmla="val 6804"/>
            </a:avLst>
          </a:prstGeom>
          <a:solidFill>
            <a:srgbClr val="12151C"/>
          </a:solidFill>
          <a:ln w="6350">
            <a:solidFill>
              <a:srgbClr val="2B32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4280" y="368935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6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64280" y="4039877"/>
            <a:ext cx="203017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Statistics basics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00775" y="3433452"/>
            <a:ext cx="2482850" cy="1446530"/>
          </a:xfrm>
          <a:prstGeom prst="roundRect">
            <a:avLst>
              <a:gd name="adj" fmla="val 6804"/>
            </a:avLst>
          </a:prstGeom>
          <a:solidFill>
            <a:srgbClr val="12151C"/>
          </a:solidFill>
          <a:ln w="6350">
            <a:solidFill>
              <a:srgbClr val="2B32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6680" y="368935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6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56680" y="4039877"/>
            <a:ext cx="203017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end-to-end projects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893175" y="3433452"/>
            <a:ext cx="2482850" cy="1446530"/>
          </a:xfrm>
          <a:prstGeom prst="roundRect">
            <a:avLst>
              <a:gd name="adj" fmla="val 6804"/>
            </a:avLst>
          </a:prstGeom>
          <a:solidFill>
            <a:srgbClr val="12151C"/>
          </a:solidFill>
          <a:ln w="6350">
            <a:solidFill>
              <a:srgbClr val="2B32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9080" y="368935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6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9080" y="4039877"/>
            <a:ext cx="203017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3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 results clearly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1003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250" dirty="0">
                <a:solidFill>
                  <a:srgbClr val="3DD6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979935"/>
            <a:ext cx="981075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800"/>
              </a:lnSpc>
              <a:buNone/>
            </a:pPr>
            <a:r>
              <a:rPr lang="en-US" sz="8800" b="1" i="0" dirty="0">
                <a:solidFill>
                  <a:srgbClr val="F3EF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Test your own project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12800" y="4418335"/>
            <a:ext cx="85026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A9B0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the three tests and post your before and after score in the group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A93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DD6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73350"/>
            <a:ext cx="981075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0"/>
              </a:lnSpc>
              <a:buNone/>
            </a:pPr>
            <a:r>
              <a:rPr lang="en-US" sz="14000" b="1" i="0" dirty="0">
                <a:solidFill>
                  <a:srgbClr val="12151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Questions?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1215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LEAKAGE AUTOPSY · THE UNLOX ACADEMY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Leakage Webinar Deck">
  <a:themeElements>
    <a:clrScheme name="Data Leakage Webinar Deck">
      <a:dk1>
        <a:srgbClr val="12151C"/>
      </a:dk1>
      <a:lt1>
        <a:srgbClr val="F3EFE8"/>
      </a:lt1>
      <a:dk2>
        <a:srgbClr val="292B30"/>
      </a:dk2>
      <a:lt2>
        <a:srgbClr val="BBB9B5"/>
      </a:lt2>
      <a:accent1>
        <a:srgbClr val="FF6B4A"/>
      </a:accent1>
      <a:accent2>
        <a:srgbClr val="3DD6B5"/>
      </a:accent2>
      <a:accent3>
        <a:srgbClr val="C8372D"/>
      </a:accent3>
      <a:accent4>
        <a:srgbClr val="8A93A6"/>
      </a:accent4>
      <a:accent5>
        <a:srgbClr val="A9B0BE"/>
      </a:accent5>
      <a:accent6>
        <a:srgbClr val="9AA0A6"/>
      </a:accent6>
      <a:hlink>
        <a:srgbClr val="0563C1"/>
      </a:hlink>
      <a:folHlink>
        <a:srgbClr val="954F72"/>
      </a:folHlink>
    </a:clrScheme>
    <a:fontScheme name="Data Leakage Webinar Deck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1106</Words>
  <Application>Microsoft Office PowerPoint</Application>
  <PresentationFormat>Widescreen</PresentationFormat>
  <Paragraphs>129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DM Sans</vt:lpstr>
      <vt:lpstr>Oswald</vt:lpstr>
      <vt:lpstr>Data Leakage Webinar Deck</vt:lpstr>
      <vt:lpstr>Data Leakage Autopsy</vt:lpstr>
      <vt:lpstr>What is the best accuracy you have ever got?</vt:lpstr>
      <vt:lpstr>Would you ship this model?</vt:lpstr>
      <vt:lpstr>What you will learn</vt:lpstr>
      <vt:lpstr>What is data leakage?</vt:lpstr>
      <vt:lpstr>Why is data leakage dangerous?</vt:lpstr>
      <vt:lpstr>Five leaks, one map</vt:lpstr>
      <vt:lpstr>Preprocessing before the split</vt:lpstr>
      <vt:lpstr>A proxy column that gives away the answer</vt:lpstr>
      <vt:lpstr>The same customer in train and test</vt:lpstr>
      <vt:lpstr>A random split on time data</vt:lpstr>
      <vt:lpstr>Feature selection before cross-validation</vt:lpstr>
      <vt:lpstr>From 97% to 80%</vt:lpstr>
      <vt:lpstr>Three tests to catch leakage</vt:lpstr>
      <vt:lpstr>Leakage in LLMs and RAG</vt:lpstr>
      <vt:lpstr>Three rules that stop leakage</vt:lpstr>
      <vt:lpstr>Skills for a data career</vt:lpstr>
      <vt:lpstr>Test your own project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Leakage Webinar Deck</dc:title>
  <dc:subject/>
  <dc:creator/>
  <cp:lastModifiedBy>Girish Kumar Badhautiya</cp:lastModifiedBy>
  <cp:revision>2</cp:revision>
  <dcterms:created xsi:type="dcterms:W3CDTF">2026-10-14T12:02:05Z</dcterms:created>
  <dcterms:modified xsi:type="dcterms:W3CDTF">2026-10-14T12:06:23Z</dcterms:modified>
</cp:coreProperties>
</file>